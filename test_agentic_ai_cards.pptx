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4C1D95"/>
                </a:solidFill>
                <a:latin typeface="Calibri"/>
              </a:defRPr>
            </a:pPr>
            <a:r>
              <a:t>AGENTIC AI &amp; VECTORLESS RAG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AGENTIC AI &amp; VECTORLESS RAG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4C1D95"/>
                </a:solidFill>
                <a:latin typeface="Calibri"/>
              </a:defRPr>
            </a:pPr>
            <a:r>
              <a:t>Agentic AI &amp; Vectorless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6D28D9"/>
                </a:solidFill>
                <a:latin typeface="Calibri"/>
              </a:defRPr>
            </a:pPr>
            <a:r>
              <a:t>A Deep Technical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1B4B"/>
                </a:solidFill>
                <a:latin typeface="Calibri"/>
              </a:defRPr>
            </a:pPr>
            <a:r>
              <a:t>Voila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8229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55648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What is Agentic AI?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8229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14016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Vectorless RAG explained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8229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72384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Architecture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8229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30752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Performance benchmarks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8229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891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8229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0408" y="4960072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408" y="496007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047488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PERFORMANCE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88595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88595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165735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94.7%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67328"/>
            <a:ext cx="165735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165735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E1B4B"/>
                </a:solidFill>
                <a:latin typeface="Calibri"/>
              </a:defRPr>
            </a:pPr>
            <a:r>
              <a:t>vs 87% traditional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1750" y="1737360"/>
            <a:ext cx="188595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1750" y="1737360"/>
            <a:ext cx="188595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8910" y="2148840"/>
            <a:ext cx="165735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3.2x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910" y="3767328"/>
            <a:ext cx="165735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Faster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737360"/>
            <a:ext cx="188595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6300" y="1737360"/>
            <a:ext cx="188595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3460" y="2148840"/>
            <a:ext cx="165735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0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3460" y="3767328"/>
            <a:ext cx="165735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Storage overhead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0850" y="1737360"/>
            <a:ext cx="188595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00850" y="1737360"/>
            <a:ext cx="188595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8010" y="2148840"/>
            <a:ext cx="165735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12ms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8010" y="3767328"/>
            <a:ext cx="165735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P95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VECTORLESS VS TRADITIONAL RAG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657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Traditional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Requires embedding model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Vector DB (Pinecone/Weaviate)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High storage cost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Complex index refresh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Embedding drift over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365760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511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Vectorless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Direct semantic graph traversal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No separate vector store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Near-zero storage overhead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Real-time updates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No drift — always fresh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RESEARCH TIMELINE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763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1580" y="201168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2020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RAG paper (Lewis et al.)</a:t>
            </a:r>
          </a:p>
        </p:txBody>
      </p:sp>
      <p:sp>
        <p:nvSpPr>
          <p:cNvPr id="8" name="Oval 7"/>
          <p:cNvSpPr/>
          <p:nvPr/>
        </p:nvSpPr>
        <p:spPr>
          <a:xfrm>
            <a:off x="299923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84048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2022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Vector DB explosion</a:t>
            </a:r>
          </a:p>
        </p:txBody>
      </p:sp>
      <p:sp>
        <p:nvSpPr>
          <p:cNvPr id="11" name="Oval 10"/>
          <p:cNvSpPr/>
          <p:nvPr/>
        </p:nvSpPr>
        <p:spPr>
          <a:xfrm>
            <a:off x="437083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4780" y="201168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2023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Agentic frameworks</a:t>
            </a:r>
          </a:p>
        </p:txBody>
      </p:sp>
      <p:sp>
        <p:nvSpPr>
          <p:cNvPr id="14" name="Oval 13"/>
          <p:cNvSpPr/>
          <p:nvPr/>
        </p:nvSpPr>
        <p:spPr>
          <a:xfrm>
            <a:off x="574243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6380" y="384048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2024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Vectorless approaches</a:t>
            </a:r>
          </a:p>
        </p:txBody>
      </p:sp>
      <p:sp>
        <p:nvSpPr>
          <p:cNvPr id="17" name="Oval 16"/>
          <p:cNvSpPr/>
          <p:nvPr/>
        </p:nvSpPr>
        <p:spPr>
          <a:xfrm>
            <a:off x="711403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7980" y="201168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2025+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Production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6D28D9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94944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29968"/>
            <a:ext cx="649224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1E1B4B"/>
                </a:solidFill>
                <a:latin typeface="Calibri"/>
              </a:defRPr>
            </a:pPr>
            <a:r>
              <a:t>The agent doesn't just retrieve — it reasons about what to retrieve, when, and how to compose the answer.</a:t>
            </a:r>
          </a:p>
          <a:p>
            <a:pPr algn="r">
              <a:defRPr i="0" sz="1800">
                <a:solidFill>
                  <a:srgbClr val="6D28D9"/>
                </a:solidFill>
                <a:latin typeface="Calibri"/>
              </a:defRPr>
            </a:pPr>
            <a:r>
              <a:t>— Yann LeCun (paraphrased)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HOW VECTORLESS RAG WORKS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6FE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412480" cy="685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8092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Text chunks stored as plain BM25/TF-IDF indices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Agent dynamically rewrites queries for multi-hop reasoning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Graph-based context window management replaces similarity search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No embedding model required at inference time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Works on any structured/unstructured corpus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6D28D9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4C1D95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6D28D9"/>
                </a:solidFill>
                <a:latin typeface="Calibri"/>
              </a:defRPr>
            </a:pPr>
            <a:r>
              <a:t>github.com/voila-ai/rag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