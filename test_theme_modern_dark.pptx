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FFFFF"/>
                </a:solidFill>
                <a:latin typeface="Segoe UI"/>
              </a:defRPr>
            </a:pPr>
            <a:r>
              <a:t>Revenue Growth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FF6E40"/>
            </a:solidFill>
          </c:spPr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180000</c:v>
                </c:pt>
                <c:pt idx="1">
                  <c:v>210000</c:v>
                </c:pt>
                <c:pt idx="2">
                  <c:v>240000</c:v>
                </c:pt>
                <c:pt idx="3">
                  <c:v>290000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>
                <a:solidFill>
                  <a:srgbClr val="C8C8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>
                <a:solidFill>
                  <a:srgbClr val="C8C8C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FFFFFF"/>
                </a:solidFill>
                <a:latin typeface="Segoe U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4114800"/>
            <a:ext cx="1828800" cy="25400"/>
          </a:xfrm>
          <a:prstGeom prst="ellipse">
            <a:avLst/>
          </a:prstGeom>
          <a:ln w="508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2026 PRODUCT REVIEW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FFFFFF"/>
                </a:solidFill>
                <a:latin typeface="Segoe UI"/>
              </a:defRPr>
            </a:pPr>
            <a:r>
              <a:t>2026 Product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6E40"/>
                </a:solidFill>
                <a:latin typeface="Georgia"/>
              </a:defRPr>
            </a:pPr>
            <a:r>
              <a:t>Annual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  <a:latin typeface="Georgia"/>
              </a:defRPr>
            </a:pPr>
            <a:r>
              <a:t>Voila AI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229600" cy="566928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64008" cy="5669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0408" y="1668232"/>
            <a:ext cx="430864" cy="430864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408" y="1668232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9928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  <a:latin typeface="Georgia"/>
              </a:defRPr>
            </a:pPr>
            <a:r>
              <a:t>Market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58568"/>
            <a:ext cx="8229600" cy="566928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64008" cy="5669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0408" y="2326600"/>
            <a:ext cx="430864" cy="430864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408" y="2326600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68296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  <a:latin typeface="Georgia"/>
              </a:defRPr>
            </a:pPr>
            <a:r>
              <a:t>Product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16936"/>
            <a:ext cx="8229600" cy="566928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16936"/>
            <a:ext cx="64008" cy="5669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0408" y="2984968"/>
            <a:ext cx="430864" cy="430864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408" y="2984968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26664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  <a:latin typeface="Georgia"/>
              </a:defRPr>
            </a:pPr>
            <a:r>
              <a:t>Financial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8229600" cy="566928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75304"/>
            <a:ext cx="64008" cy="5669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408" y="3643336"/>
            <a:ext cx="430864" cy="430864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408" y="3643336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85032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  <a:latin typeface="Georgia"/>
              </a:defRPr>
            </a:pPr>
            <a:r>
              <a:t>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33672"/>
            <a:ext cx="8229600" cy="566928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64008" cy="5669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408" y="4301704"/>
            <a:ext cx="430864" cy="430864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408" y="4301704"/>
            <a:ext cx="430864" cy="430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343400"/>
            <a:ext cx="69494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  <a:latin typeface="Georgia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Q4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590800" cy="3200400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64008" cy="32004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FF6E40"/>
                </a:solidFill>
                <a:latin typeface="Segoe UI"/>
              </a:defRPr>
            </a:pPr>
            <a:r>
              <a:t>$2.4M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  <a:latin typeface="Georgia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97680"/>
            <a:ext cx="2362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  <a:latin typeface="Georgia"/>
              </a:defRPr>
            </a:pPr>
            <a:r>
              <a:t>+18% QoQ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600" y="1737360"/>
            <a:ext cx="2590800" cy="3200400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6600" y="1737360"/>
            <a:ext cx="64008" cy="32004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7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FF6E40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7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  <a:latin typeface="Georgia"/>
              </a:defRPr>
            </a:pPr>
            <a:r>
              <a:t>Retention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1737360"/>
            <a:ext cx="2590800" cy="3200400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0" y="1737360"/>
            <a:ext cx="64008" cy="320040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160" y="2057400"/>
            <a:ext cx="2362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200">
                <a:solidFill>
                  <a:srgbClr val="FF6E40"/>
                </a:solidFill>
                <a:latin typeface="Segoe UI"/>
              </a:defRPr>
            </a:pPr>
            <a:r>
              <a:t>1,847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160" y="3703320"/>
            <a:ext cx="2362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8C8C8"/>
                </a:solidFill>
                <a:latin typeface="Georgia"/>
              </a:defRPr>
            </a:pPr>
            <a:r>
              <a:t>New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PRODUCT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64408"/>
            <a:ext cx="8229600" cy="54864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01952" y="3090672"/>
            <a:ext cx="402336" cy="402336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0195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245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Q1</a:t>
            </a:r>
          </a:p>
          <a:p>
            <a:pPr algn="ctr">
              <a:defRPr sz="1100" b="0">
                <a:solidFill>
                  <a:srgbClr val="C8C8C8"/>
                </a:solidFill>
                <a:latin typeface="Georgia"/>
              </a:defRPr>
            </a:pPr>
            <a:r>
              <a:t>Research &amp; Discovery</a:t>
            </a:r>
          </a:p>
        </p:txBody>
      </p:sp>
      <p:sp>
        <p:nvSpPr>
          <p:cNvPr id="8" name="Oval 7"/>
          <p:cNvSpPr/>
          <p:nvPr/>
        </p:nvSpPr>
        <p:spPr>
          <a:xfrm>
            <a:off x="3547872" y="3090672"/>
            <a:ext cx="402336" cy="402336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Q2</a:t>
            </a:r>
          </a:p>
          <a:p>
            <a:pPr algn="ctr">
              <a:defRPr sz="1100" b="0">
                <a:solidFill>
                  <a:srgbClr val="C8C8C8"/>
                </a:solidFill>
                <a:latin typeface="Georgia"/>
              </a:defRPr>
            </a:pPr>
            <a:r>
              <a:t>Alpha Build</a:t>
            </a:r>
          </a:p>
        </p:txBody>
      </p:sp>
      <p:sp>
        <p:nvSpPr>
          <p:cNvPr id="11" name="Oval 10"/>
          <p:cNvSpPr/>
          <p:nvPr/>
        </p:nvSpPr>
        <p:spPr>
          <a:xfrm>
            <a:off x="5193792" y="3090672"/>
            <a:ext cx="402336" cy="402336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116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Q3</a:t>
            </a:r>
          </a:p>
          <a:p>
            <a:pPr algn="ctr">
              <a:defRPr sz="1100" b="0">
                <a:solidFill>
                  <a:srgbClr val="C8C8C8"/>
                </a:solidFill>
                <a:latin typeface="Georgia"/>
              </a:defRPr>
            </a:pPr>
            <a:r>
              <a:t>Beta Launch</a:t>
            </a:r>
          </a:p>
        </p:txBody>
      </p:sp>
      <p:sp>
        <p:nvSpPr>
          <p:cNvPr id="14" name="Oval 13"/>
          <p:cNvSpPr/>
          <p:nvPr/>
        </p:nvSpPr>
        <p:spPr>
          <a:xfrm>
            <a:off x="6839712" y="3090672"/>
            <a:ext cx="402336" cy="402336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3090672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3840480"/>
            <a:ext cx="1481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C8C8"/>
                </a:solidFill>
                <a:latin typeface="Segoe UI"/>
              </a:defRPr>
            </a:pPr>
            <a:r>
              <a:t>Q4</a:t>
            </a:r>
          </a:p>
          <a:p>
            <a:pPr algn="ctr">
              <a:defRPr sz="1100" b="0">
                <a:solidFill>
                  <a:srgbClr val="C8C8C8"/>
                </a:solidFill>
                <a:latin typeface="Georgia"/>
              </a:defRPr>
            </a:pPr>
            <a:r>
              <a:t>GA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BEFORE VS AFTER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657600" cy="4023360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64008" cy="402336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50292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Segoe UI"/>
              </a:defRPr>
            </a:pPr>
            <a:r>
              <a:t>Before Voila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C8C8C8"/>
                </a:solidFill>
                <a:latin typeface="Georgia"/>
              </a:defRPr>
            </a:pPr>
            <a:r>
              <a:t>Manual process</a:t>
            </a:r>
          </a:p>
          <a:p>
            <a:pPr lvl="1">
              <a:defRPr sz="1600">
                <a:solidFill>
                  <a:srgbClr val="C8C8C8"/>
                </a:solidFill>
                <a:latin typeface="Georgia"/>
              </a:defRPr>
            </a:pPr>
            <a:r>
              <a:t>5 hours/week</a:t>
            </a:r>
          </a:p>
          <a:p>
            <a:pPr lvl="1">
              <a:defRPr sz="1600">
                <a:solidFill>
                  <a:srgbClr val="C8C8C8"/>
                </a:solidFill>
                <a:latin typeface="Georgia"/>
              </a:defRPr>
            </a:pPr>
            <a:r>
              <a:t>Error-prone</a:t>
            </a:r>
          </a:p>
          <a:p>
            <a:pPr lvl="1">
              <a:defRPr sz="1600">
                <a:solidFill>
                  <a:srgbClr val="C8C8C8"/>
                </a:solidFill>
                <a:latin typeface="Georgia"/>
              </a:defRPr>
            </a:pPr>
            <a:r>
              <a:t>No visibility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91640"/>
            <a:ext cx="3657600" cy="4023360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691640"/>
            <a:ext cx="64008" cy="402336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1691640"/>
            <a:ext cx="3657600" cy="502920"/>
          </a:xfrm>
          <a:prstGeom prst="rect">
            <a:avLst/>
          </a:prstGeom>
          <a:solidFill>
            <a:srgbClr val="BF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737360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Segoe UI"/>
              </a:defRPr>
            </a:pPr>
            <a:r>
              <a:t>After Voila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600">
                <a:solidFill>
                  <a:srgbClr val="C8C8C8"/>
                </a:solidFill>
                <a:latin typeface="Georgia"/>
              </a:defRPr>
            </a:pPr>
            <a:r>
              <a:t>Fully automated</a:t>
            </a:r>
          </a:p>
          <a:p>
            <a:pPr lvl="1">
              <a:defRPr sz="1600">
                <a:solidFill>
                  <a:srgbClr val="C8C8C8"/>
                </a:solidFill>
                <a:latin typeface="Georgia"/>
              </a:defRPr>
            </a:pPr>
            <a:r>
              <a:t>15 min/week</a:t>
            </a:r>
          </a:p>
          <a:p>
            <a:pPr lvl="1">
              <a:defRPr sz="1600">
                <a:solidFill>
                  <a:srgbClr val="C8C8C8"/>
                </a:solidFill>
                <a:latin typeface="Georgia"/>
              </a:defRPr>
            </a:pPr>
            <a:r>
              <a:t>Zero errors</a:t>
            </a:r>
          </a:p>
          <a:p>
            <a:pPr lvl="1">
              <a:defRPr sz="1600">
                <a:solidFill>
                  <a:srgbClr val="C8C8C8"/>
                </a:solidFill>
                <a:latin typeface="Georgia"/>
              </a:defRPr>
            </a:pPr>
            <a:r>
              <a:t>Real-time 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355848"/>
            <a:ext cx="694944" cy="694944"/>
          </a:xfrm>
          <a:prstGeom prst="ellipse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355848"/>
            <a:ext cx="694944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  <a:latin typeface="Segoe UI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REVENUE GROWTH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371600" y="18288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FF6E40"/>
                </a:solidFill>
                <a:latin typeface="Segoe UI"/>
              </a:defRPr>
            </a:pPr>
            <a:r>
              <a:t>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6949440" cy="2926080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64008" cy="292608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i="1" sz="2800">
                <a:solidFill>
                  <a:srgbClr val="C8C8C8"/>
                </a:solidFill>
                <a:latin typeface="Georgia"/>
              </a:defRPr>
            </a:pPr>
            <a:r>
              <a:t>Voila changed how our team works — we ship 3x faster.</a:t>
            </a:r>
          </a:p>
          <a:p>
            <a:pPr algn="r">
              <a:defRPr i="0" sz="1800">
                <a:solidFill>
                  <a:srgbClr val="FF6E40"/>
                </a:solidFill>
                <a:latin typeface="Segoe UI"/>
              </a:defRPr>
            </a:pPr>
            <a:r>
              <a:t>— CTO, TechCorp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8412480" cy="4709160"/>
          </a:xfrm>
          <a:prstGeom prst="rect">
            <a:avLst/>
          </a:prstGeom>
          <a:solidFill>
            <a:srgbClr val="20202A"/>
          </a:solidFill>
          <a:ln w="9525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64008" cy="4709160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2000">
                <a:solidFill>
                  <a:srgbClr val="C8C8C8"/>
                </a:solidFill>
                <a:latin typeface="Georgia"/>
              </a:defRPr>
            </a:pPr>
            <a:r>
              <a:t>Revenue up 33% YoY</a:t>
            </a:r>
          </a:p>
          <a:p>
            <a:pPr lvl="1">
              <a:defRPr sz="2000">
                <a:solidFill>
                  <a:srgbClr val="C8C8C8"/>
                </a:solidFill>
                <a:latin typeface="Georgia"/>
              </a:defRPr>
            </a:pPr>
            <a:r>
              <a:t>Churn reduced to 6%</a:t>
            </a:r>
          </a:p>
          <a:p>
            <a:pPr lvl="1">
              <a:defRPr sz="2000">
                <a:solidFill>
                  <a:srgbClr val="C8C8C8"/>
                </a:solidFill>
                <a:latin typeface="Georgia"/>
              </a:defRPr>
            </a:pPr>
            <a:r>
              <a:t>NPS score: 72</a:t>
            </a:r>
          </a:p>
          <a:p>
            <a:pPr lvl="1">
              <a:defRPr sz="2000">
                <a:solidFill>
                  <a:srgbClr val="C8C8C8"/>
                </a:solidFill>
                <a:latin typeface="Georgia"/>
              </a:defRPr>
            </a:pPr>
            <a:r>
              <a:t>5 enterprise contracts signed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FF6E40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3474720"/>
            <a:ext cx="5486400" cy="38100"/>
          </a:xfrm>
          <a:prstGeom prst="ellipse">
            <a:avLst/>
          </a:prstGeom>
          <a:ln w="508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="1">
          <a:gsLst>
            <a:gs pos="0">
              <a:srgbClr val="16161E"/>
            </a:gs>
            <a:gs pos="100000">
              <a:srgbClr val="0E0E1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1828800" cy="25400"/>
          </a:xfrm>
          <a:prstGeom prst="ellipse">
            <a:avLst/>
          </a:prstGeom>
          <a:ln w="38100">
            <a:solidFill>
              <a:srgbClr val="FF6E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200">
                <a:solidFill>
                  <a:srgbClr val="FFFF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6E40"/>
                </a:solidFill>
                <a:latin typeface="Georgia"/>
              </a:defRPr>
            </a:pPr>
            <a:r>
              <a:t>hello@voila.ai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FF6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