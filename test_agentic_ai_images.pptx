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073462"/>
            </a:gs>
            <a:gs pos="100000">
              <a:srgbClr val="03234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800">
                <a:solidFill>
                  <a:srgbClr val="FFFFFF"/>
                </a:solidFill>
                <a:latin typeface="Segoe UI"/>
              </a:defRPr>
            </a:pPr>
            <a:r>
              <a:t>AGENTIC AI &amp; VECTORLESS RAG — VISUAL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4114800"/>
            <a:ext cx="1828800" cy="25400"/>
          </a:xfrm>
          <a:prstGeom prst="ellipse">
            <a:avLst/>
          </a:prstGeom>
          <a:ln w="508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073462"/>
            </a:gs>
            <a:gs pos="100000">
              <a:srgbClr val="03234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Segoe UI"/>
              </a:defRPr>
            </a:pPr>
            <a:r>
              <a:t>AGENTIC AI &amp; VECTORLESS RAG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5200">
                <a:solidFill>
                  <a:srgbClr val="FFFFFF"/>
                </a:solidFill>
                <a:latin typeface="Segoe UI"/>
              </a:defRPr>
            </a:pPr>
            <a:r>
              <a:t>Agentic AI &amp; Vectorless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06B6D4"/>
                </a:solidFill>
                <a:latin typeface="Segoe UI"/>
              </a:defRPr>
            </a:pPr>
            <a:r>
              <a:t>Visual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6634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AE6FD"/>
                </a:solidFill>
                <a:latin typeface="Segoe UI"/>
              </a:defRPr>
            </a:pPr>
            <a:r>
              <a:t>Voila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073462"/>
            </a:gs>
            <a:gs pos="100000">
              <a:srgbClr val="03234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Segoe UI"/>
              </a:defRPr>
            </a:pPr>
            <a:r>
              <a:t>NEURAL NETWORK ARCHITECTURE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d29bebdc6d6738b5781a98f27158b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4267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073462"/>
            </a:gs>
            <a:gs pos="100000">
              <a:srgbClr val="03234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Segoe UI"/>
              </a:defRPr>
            </a:pPr>
            <a:r>
              <a:t>KNOWLEDGE GRAPH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e888e58a715bb8e49199ae83086aa7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441078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073462"/>
            </a:gs>
            <a:gs pos="100000">
              <a:srgbClr val="03234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Segoe UI"/>
              </a:defRPr>
            </a:pPr>
            <a:r>
              <a:t>AI AGENT SYSTEM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282f18072a784bd79114573feb3692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478759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073462"/>
            </a:gs>
            <a:gs pos="100000">
              <a:srgbClr val="03234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Segoe UI"/>
              </a:defRPr>
            </a:pPr>
            <a:r>
              <a:t>SUMMARY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600200"/>
            <a:ext cx="8412480" cy="4709160"/>
          </a:xfrm>
          <a:prstGeom prst="roundRect">
            <a:avLst>
              <a:gd name="adj" fmla="val 12000"/>
            </a:avLst>
          </a:prstGeom>
          <a:solidFill>
            <a:srgbClr val="0A467D"/>
          </a:solidFill>
          <a:ln w="6350">
            <a:solidFill>
              <a:srgbClr val="06B6D4"/>
            </a:solidFill>
          </a:ln>
          <a:effectLst>
            <a:outerShdw blurRad="60000" dist="20000" dir="5400000" algn="ctr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8412480" cy="68580"/>
          </a:xfrm>
          <a:prstGeom prst="roundRect">
            <a:avLst>
              <a:gd name="adj" fmla="val 12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810512"/>
            <a:ext cx="8092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BAE6FD"/>
                </a:solidFill>
                <a:latin typeface="Segoe UI"/>
              </a:defRPr>
            </a:pPr>
            <a:r>
              <a:t>Agentic AI enables multi-step reasoning</a:t>
            </a:r>
          </a:p>
          <a:p>
            <a:pPr lvl="1">
              <a:defRPr sz="2000">
                <a:solidFill>
                  <a:srgbClr val="BAE6FD"/>
                </a:solidFill>
                <a:latin typeface="Segoe UI"/>
              </a:defRPr>
            </a:pPr>
            <a:r>
              <a:t>Vectorless RAG eliminates embedding bottlenecks</a:t>
            </a:r>
          </a:p>
          <a:p>
            <a:pPr lvl="1">
              <a:defRPr sz="2000">
                <a:solidFill>
                  <a:srgbClr val="BAE6FD"/>
                </a:solidFill>
                <a:latin typeface="Segoe UI"/>
              </a:defRPr>
            </a:pPr>
            <a:r>
              <a:t>Production-ready with existing infrastructure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