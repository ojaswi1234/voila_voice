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00FFCC"/>
                </a:solidFill>
                <a:latin typeface="Segoe UI"/>
              </a:defRPr>
            </a:pPr>
            <a:r>
              <a:t>Revenue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FF0055"/>
            </a:solidFill>
          </c:spPr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210000</c:v>
                </c:pt>
                <c:pt idx="2">
                  <c:v>240000</c:v>
                </c:pt>
                <c:pt idx="3">
                  <c:v>290000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>
                <a:solidFill>
                  <a:srgbClr val="DCDCD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>
                <a:solidFill>
                  <a:srgbClr val="DCDCD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00FFCC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00FFCC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0055"/>
                </a:solidFill>
                <a:latin typeface="Segoe UI"/>
              </a:defRPr>
            </a:pPr>
            <a:r>
              <a:t>Annual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DCDC"/>
                </a:solidFill>
                <a:latin typeface="Segoe UI"/>
              </a:defRPr>
            </a:pPr>
            <a:r>
              <a:t>Voila AI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66928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64008" cy="5669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408" y="1668232"/>
            <a:ext cx="430864" cy="430864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408" y="1668232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  <a:latin typeface="Segoe UI"/>
              </a:defRPr>
            </a:pPr>
            <a: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8229600" cy="566928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64008" cy="5669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408" y="2326600"/>
            <a:ext cx="430864" cy="430864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408" y="2326600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68296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  <a:latin typeface="Segoe UI"/>
              </a:defRPr>
            </a:pPr>
            <a:r>
              <a:t>Product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16936"/>
            <a:ext cx="8229600" cy="566928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64008" cy="5669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0408" y="2984968"/>
            <a:ext cx="430864" cy="430864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408" y="2984968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26664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  <a:latin typeface="Segoe UI"/>
              </a:defRPr>
            </a:pPr>
            <a:r>
              <a:t>Financial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8229600" cy="566928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64008" cy="5669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408" y="3643336"/>
            <a:ext cx="430864" cy="430864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408" y="3643336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85032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33672"/>
            <a:ext cx="8229600" cy="566928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64008" cy="5669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408" y="4301704"/>
            <a:ext cx="430864" cy="430864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408" y="4301704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43400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  <a:latin typeface="Segoe U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  <a:r>
              <a:t>Q4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590800" cy="3200400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320040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FF0055"/>
                </a:solidFill>
                <a:latin typeface="Segoe UI"/>
              </a:defRPr>
            </a:pPr>
            <a:r>
              <a:t>$2.4M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DCDCDC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2362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CDCDC"/>
                </a:solidFill>
                <a:latin typeface="Segoe UI"/>
              </a:defRPr>
            </a:pPr>
            <a:r>
              <a:t>+18% QoQ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600" y="1737360"/>
            <a:ext cx="2590800" cy="3200400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6600" y="1737360"/>
            <a:ext cx="64008" cy="320040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7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FF0055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7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DCDCDC"/>
                </a:solidFill>
                <a:latin typeface="Segoe UI"/>
              </a:defRPr>
            </a:pPr>
            <a:r>
              <a:t>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1737360"/>
            <a:ext cx="2590800" cy="3200400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1737360"/>
            <a:ext cx="64008" cy="320040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1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FF0055"/>
                </a:solidFill>
                <a:latin typeface="Segoe UI"/>
              </a:defRPr>
            </a:pPr>
            <a:r>
              <a:t>1,847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1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DCDCDC"/>
                </a:solidFill>
                <a:latin typeface="Segoe UI"/>
              </a:defRPr>
            </a:pPr>
            <a:r>
              <a:t>New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  <a:r>
              <a:t>PRODUCT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64408"/>
            <a:ext cx="8229600" cy="54864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1952" y="3090672"/>
            <a:ext cx="402336" cy="402336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DCDC"/>
                </a:solidFill>
                <a:latin typeface="Segoe UI"/>
              </a:defRPr>
            </a:pPr>
            <a:r>
              <a:t>Q1</a:t>
            </a:r>
          </a:p>
          <a:p>
            <a:pPr algn="ctr">
              <a:defRPr sz="1100" b="0">
                <a:solidFill>
                  <a:srgbClr val="DCDCDC"/>
                </a:solidFill>
                <a:latin typeface="Segoe UI"/>
              </a:defRPr>
            </a:pPr>
            <a:r>
              <a:t>Research &amp; 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3547872" y="3090672"/>
            <a:ext cx="402336" cy="402336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DCDC"/>
                </a:solidFill>
                <a:latin typeface="Segoe UI"/>
              </a:defRPr>
            </a:pPr>
            <a:r>
              <a:t>Q2</a:t>
            </a:r>
          </a:p>
          <a:p>
            <a:pPr algn="ctr">
              <a:defRPr sz="1100" b="0">
                <a:solidFill>
                  <a:srgbClr val="DCDCDC"/>
                </a:solidFill>
                <a:latin typeface="Segoe UI"/>
              </a:defRPr>
            </a:pPr>
            <a:r>
              <a:t>Alpha Build</a:t>
            </a:r>
          </a:p>
        </p:txBody>
      </p:sp>
      <p:sp>
        <p:nvSpPr>
          <p:cNvPr id="11" name="Oval 10"/>
          <p:cNvSpPr/>
          <p:nvPr/>
        </p:nvSpPr>
        <p:spPr>
          <a:xfrm>
            <a:off x="5193792" y="3090672"/>
            <a:ext cx="402336" cy="402336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DCDC"/>
                </a:solidFill>
                <a:latin typeface="Segoe UI"/>
              </a:defRPr>
            </a:pPr>
            <a:r>
              <a:t>Q3</a:t>
            </a:r>
          </a:p>
          <a:p>
            <a:pPr algn="ctr">
              <a:defRPr sz="1100" b="0">
                <a:solidFill>
                  <a:srgbClr val="DCDCDC"/>
                </a:solidFill>
                <a:latin typeface="Segoe UI"/>
              </a:defRPr>
            </a:pPr>
            <a:r>
              <a:t>Beta Launch</a:t>
            </a:r>
          </a:p>
        </p:txBody>
      </p:sp>
      <p:sp>
        <p:nvSpPr>
          <p:cNvPr id="14" name="Oval 13"/>
          <p:cNvSpPr/>
          <p:nvPr/>
        </p:nvSpPr>
        <p:spPr>
          <a:xfrm>
            <a:off x="6839712" y="3090672"/>
            <a:ext cx="402336" cy="402336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DCDC"/>
                </a:solidFill>
                <a:latin typeface="Segoe UI"/>
              </a:defRPr>
            </a:pPr>
            <a:r>
              <a:t>Q4</a:t>
            </a:r>
          </a:p>
          <a:p>
            <a:pPr algn="ctr">
              <a:defRPr sz="1100" b="0">
                <a:solidFill>
                  <a:srgbClr val="DCDCDC"/>
                </a:solidFill>
                <a:latin typeface="Segoe UI"/>
              </a:defRPr>
            </a:pPr>
            <a:r>
              <a:t>GA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  <a:r>
              <a:t>BEFORE VS AFTER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657600" cy="4023360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64008" cy="402336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Segoe UI"/>
              </a:defRPr>
            </a:pPr>
            <a:r>
              <a:t>Before Voila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DCDCDC"/>
                </a:solidFill>
                <a:latin typeface="Segoe UI"/>
              </a:defRPr>
            </a:pPr>
            <a:r>
              <a:t>Manual process</a:t>
            </a:r>
          </a:p>
          <a:p>
            <a:pPr lvl="1">
              <a:defRPr sz="1600">
                <a:solidFill>
                  <a:srgbClr val="DCDCDC"/>
                </a:solidFill>
                <a:latin typeface="Segoe UI"/>
              </a:defRPr>
            </a:pPr>
            <a:r>
              <a:t>5 hours/week</a:t>
            </a:r>
          </a:p>
          <a:p>
            <a:pPr lvl="1">
              <a:defRPr sz="1600">
                <a:solidFill>
                  <a:srgbClr val="DCDCDC"/>
                </a:solidFill>
                <a:latin typeface="Segoe UI"/>
              </a:defRPr>
            </a:pPr>
            <a:r>
              <a:t>Error-prone</a:t>
            </a:r>
          </a:p>
          <a:p>
            <a:pPr lvl="1">
              <a:defRPr sz="1600">
                <a:solidFill>
                  <a:srgbClr val="DCDCDC"/>
                </a:solidFill>
                <a:latin typeface="Segoe UI"/>
              </a:defRPr>
            </a:pPr>
            <a:r>
              <a:t>No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3657600" cy="4023360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64008" cy="402336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solidFill>
            <a:srgbClr val="BF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Segoe UI"/>
              </a:defRPr>
            </a:pPr>
            <a:r>
              <a:t>After Voila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DCDCDC"/>
                </a:solidFill>
                <a:latin typeface="Segoe UI"/>
              </a:defRPr>
            </a:pPr>
            <a:r>
              <a:t>Fully automated</a:t>
            </a:r>
          </a:p>
          <a:p>
            <a:pPr lvl="1">
              <a:defRPr sz="1600">
                <a:solidFill>
                  <a:srgbClr val="DCDCDC"/>
                </a:solidFill>
                <a:latin typeface="Segoe UI"/>
              </a:defRPr>
            </a:pPr>
            <a:r>
              <a:t>15 min/week</a:t>
            </a:r>
          </a:p>
          <a:p>
            <a:pPr lvl="1">
              <a:defRPr sz="1600">
                <a:solidFill>
                  <a:srgbClr val="DCDCDC"/>
                </a:solidFill>
                <a:latin typeface="Segoe UI"/>
              </a:defRPr>
            </a:pPr>
            <a:r>
              <a:t>Zero errors</a:t>
            </a:r>
          </a:p>
          <a:p>
            <a:pPr lvl="1">
              <a:defRPr sz="1600">
                <a:solidFill>
                  <a:srgbClr val="DCDCDC"/>
                </a:solidFill>
                <a:latin typeface="Segoe UI"/>
              </a:defRPr>
            </a:pPr>
            <a:r>
              <a:t>Real-time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355848"/>
            <a:ext cx="694944" cy="694944"/>
          </a:xfrm>
          <a:prstGeom prst="ellipse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35584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  <a:latin typeface="Segoe U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  <a:r>
              <a:t>REVENUE GROWTH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FF0055"/>
                </a:solidFill>
                <a:latin typeface="Segoe UI"/>
              </a:defRPr>
            </a:pPr>
            <a:r>
              <a:t>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6949440" cy="2926080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64008" cy="292608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i="1" sz="2800">
                <a:solidFill>
                  <a:srgbClr val="DCDCDC"/>
                </a:solidFill>
                <a:latin typeface="Segoe UI"/>
              </a:defRPr>
            </a:pPr>
            <a:r>
              <a:t>Voila changed how our team works — we ship 3x faster.</a:t>
            </a:r>
          </a:p>
          <a:p>
            <a:pPr algn="r">
              <a:defRPr i="0" sz="1800">
                <a:solidFill>
                  <a:srgbClr val="FF0055"/>
                </a:solidFill>
                <a:latin typeface="Segoe UI"/>
              </a:defRPr>
            </a:pPr>
            <a:r>
              <a:t>— CTO, TechCorp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8412480" cy="4709160"/>
          </a:xfrm>
          <a:prstGeom prst="rect">
            <a:avLst/>
          </a:prstGeom>
          <a:solidFill>
            <a:srgbClr val="1C0614"/>
          </a:solidFill>
          <a:ln w="9525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64008" cy="470916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DCDCDC"/>
                </a:solidFill>
                <a:latin typeface="Segoe UI"/>
              </a:defRPr>
            </a:pPr>
            <a:r>
              <a:t>Revenue up 33% YoY</a:t>
            </a:r>
          </a:p>
          <a:p>
            <a:pPr lvl="1">
              <a:defRPr sz="2000">
                <a:solidFill>
                  <a:srgbClr val="DCDCDC"/>
                </a:solidFill>
                <a:latin typeface="Segoe UI"/>
              </a:defRPr>
            </a:pPr>
            <a:r>
              <a:t>Churn reduced to 6%</a:t>
            </a:r>
          </a:p>
          <a:p>
            <a:pPr lvl="1">
              <a:defRPr sz="2000">
                <a:solidFill>
                  <a:srgbClr val="DCDCDC"/>
                </a:solidFill>
                <a:latin typeface="Segoe UI"/>
              </a:defRPr>
            </a:pPr>
            <a:r>
              <a:t>NPS score: 72</a:t>
            </a:r>
          </a:p>
          <a:p>
            <a:pPr lvl="1">
              <a:defRPr sz="2000">
                <a:solidFill>
                  <a:srgbClr val="DCDCDC"/>
                </a:solidFill>
                <a:latin typeface="Segoe UI"/>
              </a:defRPr>
            </a:pPr>
            <a:r>
              <a:t>5 enterprise contracts signed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0055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3474720"/>
            <a:ext cx="5486400" cy="38100"/>
          </a:xfrm>
          <a:prstGeom prst="ellipse">
            <a:avLst/>
          </a:prstGeom>
          <a:ln w="508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0D0208"/>
            </a:gs>
            <a:gs pos="100000">
              <a:srgbClr val="1E052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CC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00FFCC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0055"/>
                </a:solidFill>
                <a:latin typeface="Segoe UI"/>
              </a:defRPr>
            </a:pPr>
            <a:r>
              <a:t>hello@voila.ai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