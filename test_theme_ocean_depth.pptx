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06B6D4"/>
            </a:solidFill>
          </c:spPr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210000</c:v>
                </c:pt>
                <c:pt idx="2">
                  <c:v>240000</c:v>
                </c:pt>
                <c:pt idx="3">
                  <c:v>290000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FFFFFF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6B6D4"/>
                </a:solidFill>
                <a:latin typeface="Segoe UI"/>
              </a:defRPr>
            </a:pPr>
            <a:r>
              <a:t>Annual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AE6FD"/>
                </a:solidFill>
                <a:latin typeface="Segoe UI"/>
              </a:defRPr>
            </a:pPr>
            <a:r>
              <a:t>Voila AI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66928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400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08" y="1668232"/>
            <a:ext cx="430864" cy="43086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408" y="166823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AE6FD"/>
                </a:solidFill>
                <a:latin typeface="Segoe UI"/>
              </a:defRPr>
            </a:pPr>
            <a: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8229600" cy="566928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6400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408" y="2326600"/>
            <a:ext cx="430864" cy="43086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408" y="2326600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AE6FD"/>
                </a:solidFill>
                <a:latin typeface="Segoe UI"/>
              </a:defRPr>
            </a:pPr>
            <a:r>
              <a:t>Product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6400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408" y="2984968"/>
            <a:ext cx="430864" cy="43086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408" y="2984968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26664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AE6FD"/>
                </a:solidFill>
                <a:latin typeface="Segoe UI"/>
              </a:defRPr>
            </a:pPr>
            <a:r>
              <a:t>Financial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6400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408" y="3643336"/>
            <a:ext cx="430864" cy="43086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408" y="3643336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85032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AE6FD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6400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408" y="4301704"/>
            <a:ext cx="430864" cy="43086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408" y="4301704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43400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AE6FD"/>
                </a:solidFill>
                <a:latin typeface="Segoe U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Q4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90800" cy="3200400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06B6D4"/>
                </a:solidFill>
                <a:latin typeface="Segoe UI"/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AE6FD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2362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AE6FD"/>
                </a:solidFill>
                <a:latin typeface="Segoe UI"/>
              </a:defRPr>
            </a:pPr>
            <a:r>
              <a:t>+18% QoQ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1737360"/>
            <a:ext cx="2590800" cy="3200400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1737360"/>
            <a:ext cx="64008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7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06B6D4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AE6FD"/>
                </a:solidFill>
                <a:latin typeface="Segoe UI"/>
              </a:defRPr>
            </a:pPr>
            <a:r>
              <a:t>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1737360"/>
            <a:ext cx="2590800" cy="3200400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1737360"/>
            <a:ext cx="64008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06B6D4"/>
                </a:solidFill>
                <a:latin typeface="Segoe UI"/>
              </a:defRPr>
            </a:pPr>
            <a:r>
              <a:t>1,847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AE6FD"/>
                </a:solidFill>
                <a:latin typeface="Segoe UI"/>
              </a:defRPr>
            </a:pPr>
            <a:r>
              <a:t>New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PRODUCT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64408"/>
            <a:ext cx="82296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1952" y="3090672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AE6FD"/>
                </a:solidFill>
                <a:latin typeface="Segoe UI"/>
              </a:defRPr>
            </a:pPr>
            <a:r>
              <a:t>Q1</a:t>
            </a:r>
          </a:p>
          <a:p>
            <a:pPr algn="ctr">
              <a:defRPr sz="1100" b="0">
                <a:solidFill>
                  <a:srgbClr val="BAE6FD"/>
                </a:solidFill>
                <a:latin typeface="Segoe UI"/>
              </a:defRPr>
            </a:pPr>
            <a:r>
              <a:t>Research &amp; 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3547872" y="3090672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AE6FD"/>
                </a:solidFill>
                <a:latin typeface="Segoe UI"/>
              </a:defRPr>
            </a:pPr>
            <a:r>
              <a:t>Q2</a:t>
            </a:r>
          </a:p>
          <a:p>
            <a:pPr algn="ctr">
              <a:defRPr sz="1100" b="0">
                <a:solidFill>
                  <a:srgbClr val="BAE6FD"/>
                </a:solidFill>
                <a:latin typeface="Segoe UI"/>
              </a:defRPr>
            </a:pPr>
            <a:r>
              <a:t>Alpha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5193792" y="3090672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AE6FD"/>
                </a:solidFill>
                <a:latin typeface="Segoe UI"/>
              </a:defRPr>
            </a:pPr>
            <a:r>
              <a:t>Q3</a:t>
            </a:r>
          </a:p>
          <a:p>
            <a:pPr algn="ctr">
              <a:defRPr sz="1100" b="0">
                <a:solidFill>
                  <a:srgbClr val="BAE6FD"/>
                </a:solidFill>
                <a:latin typeface="Segoe UI"/>
              </a:defRPr>
            </a:pPr>
            <a:r>
              <a:t>Beta Launch</a:t>
            </a:r>
          </a:p>
        </p:txBody>
      </p:sp>
      <p:sp>
        <p:nvSpPr>
          <p:cNvPr id="14" name="Oval 13"/>
          <p:cNvSpPr/>
          <p:nvPr/>
        </p:nvSpPr>
        <p:spPr>
          <a:xfrm>
            <a:off x="6839712" y="3090672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AE6FD"/>
                </a:solidFill>
                <a:latin typeface="Segoe UI"/>
              </a:defRPr>
            </a:pPr>
            <a:r>
              <a:t>Q4</a:t>
            </a:r>
          </a:p>
          <a:p>
            <a:pPr algn="ctr">
              <a:defRPr sz="1100" b="0">
                <a:solidFill>
                  <a:srgbClr val="BAE6FD"/>
                </a:solidFill>
                <a:latin typeface="Segoe UI"/>
              </a:defRPr>
            </a:pPr>
            <a:r>
              <a:t>GA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BEFORE VS AFTER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64008" cy="4023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Segoe UI"/>
              </a:defRPr>
            </a:pPr>
            <a:r>
              <a:t>Before Voila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Manual process</a:t>
            </a:r>
          </a:p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5 hours/week</a:t>
            </a:r>
          </a:p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Error-prone</a:t>
            </a:r>
          </a:p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No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3657600" cy="4023360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64008" cy="4023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solidFill>
            <a:srgbClr val="048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Segoe UI"/>
              </a:defRPr>
            </a:pPr>
            <a:r>
              <a:t>After Voila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Fully automated</a:t>
            </a:r>
          </a:p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15 min/week</a:t>
            </a:r>
          </a:p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Zero errors</a:t>
            </a:r>
          </a:p>
          <a:p>
            <a:pPr lvl="1">
              <a:defRPr sz="1600">
                <a:solidFill>
                  <a:srgbClr val="BAE6FD"/>
                </a:solidFill>
                <a:latin typeface="Segoe UI"/>
              </a:defRPr>
            </a:pPr>
            <a:r>
              <a:t>Real-time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355848"/>
            <a:ext cx="694944" cy="6949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35584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  <a:latin typeface="Segoe U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REVENUE GROWTH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06B6D4"/>
                </a:solidFill>
                <a:latin typeface="Segoe UI"/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4008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 sz="2800">
                <a:solidFill>
                  <a:srgbClr val="BAE6FD"/>
                </a:solidFill>
                <a:latin typeface="Segoe UI"/>
              </a:defRPr>
            </a:pPr>
            <a:r>
              <a:t>Voila changed how our team works — we ship 3x faster.</a:t>
            </a:r>
          </a:p>
          <a:p>
            <a:pPr algn="r">
              <a:defRPr i="0" sz="1800">
                <a:solidFill>
                  <a:srgbClr val="06B6D4"/>
                </a:solidFill>
                <a:latin typeface="Segoe UI"/>
              </a:defRPr>
            </a:pPr>
            <a:r>
              <a:t>— CTO, TechCorp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ect">
            <a:avLst/>
          </a:prstGeom>
          <a:solidFill>
            <a:srgbClr val="0A467D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64008" cy="4709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BAE6FD"/>
                </a:solidFill>
                <a:latin typeface="Segoe UI"/>
              </a:defRPr>
            </a:pPr>
            <a:r>
              <a:t>Revenue up 33% YoY</a:t>
            </a:r>
          </a:p>
          <a:p>
            <a:pPr lvl="1">
              <a:defRPr sz="2000">
                <a:solidFill>
                  <a:srgbClr val="BAE6FD"/>
                </a:solidFill>
                <a:latin typeface="Segoe UI"/>
              </a:defRPr>
            </a:pPr>
            <a:r>
              <a:t>Churn reduced to 6%</a:t>
            </a:r>
          </a:p>
          <a:p>
            <a:pPr lvl="1">
              <a:defRPr sz="2000">
                <a:solidFill>
                  <a:srgbClr val="BAE6FD"/>
                </a:solidFill>
                <a:latin typeface="Segoe UI"/>
              </a:defRPr>
            </a:pPr>
            <a:r>
              <a:t>NPS score: 72</a:t>
            </a:r>
          </a:p>
          <a:p>
            <a:pPr lvl="1">
              <a:defRPr sz="2000">
                <a:solidFill>
                  <a:srgbClr val="BAE6FD"/>
                </a:solidFill>
                <a:latin typeface="Segoe UI"/>
              </a:defRPr>
            </a:pPr>
            <a:r>
              <a:t>5 enterprise contracts signed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3474720"/>
            <a:ext cx="5486400" cy="38100"/>
          </a:xfrm>
          <a:prstGeom prst="ellipse">
            <a:avLst/>
          </a:prstGeom>
          <a:ln w="508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6B6D4"/>
                </a:solidFill>
                <a:latin typeface="Segoe UI"/>
              </a:defRPr>
            </a:pPr>
            <a:r>
              <a:t>hello@voila.ai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