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4C1D95"/>
                </a:solidFill>
                <a:latin typeface="Calibri"/>
              </a:defRPr>
            </a:pPr>
            <a:r>
              <a:t>Revenue Growth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Metrics</c:v>
                </c:pt>
              </c:strCache>
            </c:strRef>
          </c:tx>
          <c:spPr>
            <a:solidFill>
              <a:srgbClr val="6D28D9"/>
            </a:solidFill>
          </c:spPr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180000</c:v>
                </c:pt>
                <c:pt idx="1">
                  <c:v>210000</c:v>
                </c:pt>
                <c:pt idx="2">
                  <c:v>240000</c:v>
                </c:pt>
                <c:pt idx="3">
                  <c:v>290000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4C1D95"/>
                </a:solidFill>
                <a:latin typeface="Calibri"/>
              </a:defRPr>
            </a:pPr>
            <a:r>
              <a:t>2026 PRODUCT REVIEW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4114800"/>
            <a:ext cx="1828800" cy="25400"/>
          </a:xfrm>
          <a:prstGeom prst="ellipse">
            <a:avLst/>
          </a:prstGeom>
          <a:ln w="508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2026 PRODUCT REVIEW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4C1D95"/>
                </a:solidFill>
                <a:latin typeface="Calibri"/>
              </a:defRPr>
            </a:pPr>
            <a:r>
              <a:t>2026 Product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6D28D9"/>
                </a:solidFill>
                <a:latin typeface="Calibri"/>
              </a:defRPr>
            </a:pPr>
            <a:r>
              <a:t>Annual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1B4B"/>
                </a:solidFill>
                <a:latin typeface="Calibri"/>
              </a:defRPr>
            </a:pPr>
            <a:r>
              <a:t>Voila AI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64008" cy="5669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0408" y="1668232"/>
            <a:ext cx="430864" cy="43086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408" y="1668232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09928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B4B"/>
                </a:solidFill>
                <a:latin typeface="Calibri"/>
              </a:defRPr>
            </a:pPr>
            <a:r>
              <a:t>Market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64008" cy="5669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0408" y="2326600"/>
            <a:ext cx="430864" cy="43086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408" y="2326600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68296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B4B"/>
                </a:solidFill>
                <a:latin typeface="Calibri"/>
              </a:defRPr>
            </a:pPr>
            <a:r>
              <a:t>Product Updates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16936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16936"/>
            <a:ext cx="64008" cy="5669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0408" y="2984968"/>
            <a:ext cx="430864" cy="43086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408" y="2984968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026664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B4B"/>
                </a:solidFill>
                <a:latin typeface="Calibri"/>
              </a:defRPr>
            </a:pPr>
            <a:r>
              <a:t>Financial Metrics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75304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75304"/>
            <a:ext cx="64008" cy="5669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408" y="3643336"/>
            <a:ext cx="430864" cy="43086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408" y="3643336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685032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B4B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33672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33672"/>
            <a:ext cx="64008" cy="5669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408" y="4301704"/>
            <a:ext cx="430864" cy="43086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408" y="4301704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343400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B4B"/>
                </a:solidFill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Q4 AT A GLANCE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2590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64008" cy="32004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6D28D9"/>
                </a:solidFill>
                <a:latin typeface="Calibri"/>
              </a:defRPr>
            </a:pPr>
            <a:r>
              <a:t>$2.4M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E1B4B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97680"/>
            <a:ext cx="2362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E1B4B"/>
                </a:solidFill>
                <a:latin typeface="Calibri"/>
              </a:defRPr>
            </a:pPr>
            <a:r>
              <a:t>+18% QoQ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6600" y="1737360"/>
            <a:ext cx="2590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6600" y="1737360"/>
            <a:ext cx="64008" cy="32004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7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6D28D9"/>
                </a:solidFill>
                <a:latin typeface="Calibri"/>
              </a:defRPr>
            </a:pPr>
            <a: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37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E1B4B"/>
                </a:solidFill>
                <a:latin typeface="Calibri"/>
              </a:defRPr>
            </a:pPr>
            <a:r>
              <a:t>Retention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0" y="1737360"/>
            <a:ext cx="2590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0" y="1737360"/>
            <a:ext cx="64008" cy="32004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1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6D28D9"/>
                </a:solidFill>
                <a:latin typeface="Calibri"/>
              </a:defRPr>
            </a:pPr>
            <a:r>
              <a:t>1,847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1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E1B4B"/>
                </a:solidFill>
                <a:latin typeface="Calibri"/>
              </a:defRPr>
            </a:pPr>
            <a:r>
              <a:t>New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64408"/>
            <a:ext cx="822960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01952" y="3090672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195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456" y="20116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B4B"/>
                </a:solidFill>
                <a:latin typeface="Calibri"/>
              </a:defRPr>
            </a:pPr>
            <a:r>
              <a:t>Q1</a:t>
            </a:r>
          </a:p>
          <a:p>
            <a:pPr algn="ctr">
              <a:defRPr sz="1100" b="0">
                <a:solidFill>
                  <a:srgbClr val="1E1B4B"/>
                </a:solidFill>
                <a:latin typeface="Calibri"/>
              </a:defRPr>
            </a:pPr>
            <a:r>
              <a:t>Research &amp; Discovery</a:t>
            </a:r>
          </a:p>
        </p:txBody>
      </p:sp>
      <p:sp>
        <p:nvSpPr>
          <p:cNvPr id="8" name="Oval 7"/>
          <p:cNvSpPr/>
          <p:nvPr/>
        </p:nvSpPr>
        <p:spPr>
          <a:xfrm>
            <a:off x="3547872" y="3090672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38404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B4B"/>
                </a:solidFill>
                <a:latin typeface="Calibri"/>
              </a:defRPr>
            </a:pPr>
            <a:r>
              <a:t>Q2</a:t>
            </a:r>
          </a:p>
          <a:p>
            <a:pPr algn="ctr">
              <a:defRPr sz="1100" b="0">
                <a:solidFill>
                  <a:srgbClr val="1E1B4B"/>
                </a:solidFill>
                <a:latin typeface="Calibri"/>
              </a:defRPr>
            </a:pPr>
            <a:r>
              <a:t>Alpha Build</a:t>
            </a:r>
          </a:p>
        </p:txBody>
      </p:sp>
      <p:sp>
        <p:nvSpPr>
          <p:cNvPr id="11" name="Oval 10"/>
          <p:cNvSpPr/>
          <p:nvPr/>
        </p:nvSpPr>
        <p:spPr>
          <a:xfrm>
            <a:off x="5193792" y="3090672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0116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B4B"/>
                </a:solidFill>
                <a:latin typeface="Calibri"/>
              </a:defRPr>
            </a:pPr>
            <a:r>
              <a:t>Q3</a:t>
            </a:r>
          </a:p>
          <a:p>
            <a:pPr algn="ctr">
              <a:defRPr sz="1100" b="0">
                <a:solidFill>
                  <a:srgbClr val="1E1B4B"/>
                </a:solidFill>
                <a:latin typeface="Calibri"/>
              </a:defRPr>
            </a:pPr>
            <a:r>
              <a:t>Beta Launch</a:t>
            </a:r>
          </a:p>
        </p:txBody>
      </p:sp>
      <p:sp>
        <p:nvSpPr>
          <p:cNvPr id="14" name="Oval 13"/>
          <p:cNvSpPr/>
          <p:nvPr/>
        </p:nvSpPr>
        <p:spPr>
          <a:xfrm>
            <a:off x="6839712" y="3090672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38404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B4B"/>
                </a:solidFill>
                <a:latin typeface="Calibri"/>
              </a:defRPr>
            </a:pPr>
            <a:r>
              <a:t>Q4</a:t>
            </a:r>
          </a:p>
          <a:p>
            <a:pPr algn="ctr">
              <a:defRPr sz="1100" b="0">
                <a:solidFill>
                  <a:srgbClr val="1E1B4B"/>
                </a:solidFill>
                <a:latin typeface="Calibri"/>
              </a:defRPr>
            </a:pPr>
            <a:r>
              <a:t>GA Release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BEFORE VS AFTER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64008" cy="40233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Calibri"/>
              </a:defRPr>
            </a:pPr>
            <a:r>
              <a:t>Before Voila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Manual process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5 hours/week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Error-prone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No visibility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69164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64008" cy="40233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691640"/>
            <a:ext cx="3657600" cy="502920"/>
          </a:xfrm>
          <a:prstGeom prst="rect">
            <a:avLst/>
          </a:prstGeom>
          <a:solidFill>
            <a:srgbClr val="511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Calibri"/>
              </a:defRPr>
            </a:pPr>
            <a:r>
              <a:t>After Voila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Fully automated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15 min/week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Zero errors</a:t>
            </a:r>
          </a:p>
          <a:p>
            <a:pPr lvl="1">
              <a:defRPr sz="1600">
                <a:solidFill>
                  <a:srgbClr val="1E1B4B"/>
                </a:solidFill>
                <a:latin typeface="Calibri"/>
              </a:defRPr>
            </a:pPr>
            <a:r>
              <a:t>Real-time dashboard</a:t>
            </a:r>
          </a:p>
        </p:txBody>
      </p:sp>
      <p:sp>
        <p:nvSpPr>
          <p:cNvPr id="14" name="Oval 13"/>
          <p:cNvSpPr/>
          <p:nvPr/>
        </p:nvSpPr>
        <p:spPr>
          <a:xfrm>
            <a:off x="4224528" y="3355848"/>
            <a:ext cx="694944" cy="69494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3355848"/>
            <a:ext cx="694944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REVENUE GROWTH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6D28D9"/>
                </a:solidFill>
                <a:latin typeface="Calibri"/>
              </a:defRPr>
            </a:pPr>
            <a:r>
              <a:t>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69494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64008" cy="2926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i="1" sz="2800">
                <a:solidFill>
                  <a:srgbClr val="1E1B4B"/>
                </a:solidFill>
                <a:latin typeface="Calibri"/>
              </a:defRPr>
            </a:pPr>
            <a:r>
              <a:t>Voila changed how our team works — we ship 3x faster.</a:t>
            </a:r>
          </a:p>
          <a:p>
            <a:pPr algn="r">
              <a:defRPr i="0" sz="1800">
                <a:solidFill>
                  <a:srgbClr val="6D28D9"/>
                </a:solidFill>
                <a:latin typeface="Calibri"/>
              </a:defRPr>
            </a:pPr>
            <a:r>
              <a:t>— CTO, TechCorp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841248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64008" cy="4709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1E1B4B"/>
                </a:solidFill>
                <a:latin typeface="Calibri"/>
              </a:defRPr>
            </a:pPr>
            <a:r>
              <a:t>Revenue up 33% YoY</a:t>
            </a:r>
          </a:p>
          <a:p>
            <a:pPr lvl="1">
              <a:defRPr sz="2000">
                <a:solidFill>
                  <a:srgbClr val="1E1B4B"/>
                </a:solidFill>
                <a:latin typeface="Calibri"/>
              </a:defRPr>
            </a:pPr>
            <a:r>
              <a:t>Churn reduced to 6%</a:t>
            </a:r>
          </a:p>
          <a:p>
            <a:pPr lvl="1">
              <a:defRPr sz="2000">
                <a:solidFill>
                  <a:srgbClr val="1E1B4B"/>
                </a:solidFill>
                <a:latin typeface="Calibri"/>
              </a:defRPr>
            </a:pPr>
            <a:r>
              <a:t>NPS score: 72</a:t>
            </a:r>
          </a:p>
          <a:p>
            <a:pPr lvl="1">
              <a:defRPr sz="2000">
                <a:solidFill>
                  <a:srgbClr val="1E1B4B"/>
                </a:solidFill>
                <a:latin typeface="Calibri"/>
              </a:defRPr>
            </a:pPr>
            <a:r>
              <a:t>5 enterprise contracts signed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6D28D9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3474720"/>
            <a:ext cx="5486400" cy="38100"/>
          </a:xfrm>
          <a:prstGeom prst="ellipse">
            <a:avLst/>
          </a:prstGeom>
          <a:ln w="508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5F3FF"/>
            </a:gs>
            <a:gs pos="100000">
              <a:srgbClr val="E5DE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4C1D95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4C1D95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6D28D9"/>
                </a:solidFill>
                <a:latin typeface="Calibri"/>
              </a:defRPr>
            </a:pPr>
            <a:r>
              <a:t>hello@voila.ai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